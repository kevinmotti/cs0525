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/>
  <p:notesSz cx="51435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it-IT" sz="2000" spc="-1" strike="noStrike">
                <a:latin typeface="Arial"/>
              </a:rPr>
              <a:t>Click to edit the notes format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it-IT" sz="1400" spc="-1" strike="noStrike">
                <a:latin typeface="Times New Roman"/>
              </a:rPr>
              <a:t>&lt;header&gt;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it-IT" sz="1400" spc="-1" strike="noStrike">
                <a:latin typeface="Times New Roman"/>
              </a:rPr>
              <a:t>&lt;date/time&gt;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it-IT" sz="1400" spc="-1" strike="noStrike">
                <a:latin typeface="Times New Roman"/>
              </a:rPr>
              <a:t>&lt;footer&gt;</a:t>
            </a:r>
            <a:endParaRPr b="0" lang="it-IT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C435407A-9AC7-4909-8A04-746EE2860BBB}" type="slidenum">
              <a:rPr b="0" lang="it-IT" sz="1400" spc="-1" strike="noStrike">
                <a:latin typeface="Times New Roman"/>
              </a:rPr>
              <a:t>&lt;number&gt;</a:t>
            </a:fld>
            <a:endParaRPr b="0" lang="it-IT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B0FA8261-0825-4CC4-94A8-2E8D2EBEB32E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30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211DF1C-77D2-4881-86E1-223356343B9C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AB55AD2-8EE5-4C38-80D4-90444F61C451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79CEE3B-E63B-4F93-B136-B6CC21AE17F7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39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378CD6B-E5A4-4BE2-9FE3-BA6890AE6948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42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04E75B13-9E82-4356-A838-00D7BC45A493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45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81617A1-ACA9-4E58-A08F-29A0389B6FB7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9CBDE195-DC51-43D4-BCD5-71337AE15995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51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9C1641E-4B72-4467-890F-B45CFC4750EC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54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376398F-376E-4DBA-A76F-346D01509838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57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8C7152B-803A-4453-A9D9-E01971627E8D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60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C6859A2B-464E-4BC6-B515-16527B887641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63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E7170607-3397-48ED-B3A1-01A2C6AB6EC0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66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970810F-28D8-4FF8-A3AF-562E2F8C263E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69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E61FEB7-6AA6-4CC9-953D-DF07A293A2E4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72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C21FBD63-E936-4736-816F-E24D9DB48896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75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7B7BA7DA-3C4A-4242-AD0D-D2B3F2EFF0AE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78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68DB8A5E-3F2F-4825-9A5F-240326178364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81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599D4012-9D66-4BFF-89F8-B517684C2340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84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414C2125-46A5-442E-858E-7248700B32A4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87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92752A98-E3A0-4CB4-A5E2-7072A24EB9EE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90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7AB36C32-AFFB-4A8D-94D6-93682457853D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93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73254E2E-C15E-4907-B8D0-7E9C685ED217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96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1ABF6DD2-22BF-4BED-A55D-9D7C81E0CB2F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299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ABA075E9-B8BC-46A1-80BC-1CE85710D12E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302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BCE29B0C-785C-48C4-B6D8-F224982EDCF9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000" cy="36000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endParaRPr b="0" lang="it-IT" sz="2000" spc="-1" strike="noStrike">
              <a:latin typeface="Arial"/>
            </a:endParaRPr>
          </a:p>
        </p:txBody>
      </p:sp>
      <p:sp>
        <p:nvSpPr>
          <p:cNvPr id="305" name="TextShape 3"/>
          <p:cNvSpPr txBox="1"/>
          <p:nvPr/>
        </p:nvSpPr>
        <p:spPr>
          <a:xfrm>
            <a:off x="0" y="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fld id="{F03A76E1-75BB-4837-ADDC-93BF05B930F8}" type="slidenum">
              <a:rPr b="0" lang="it-IT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it-IT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2401920" y="1251720"/>
            <a:ext cx="43394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5400"/>
              </a:lnSpc>
            </a:pPr>
            <a:r>
              <a:rPr b="1" lang="it-IT" sz="4500" spc="-1" strike="noStrike">
                <a:solidFill>
                  <a:srgbClr val="38bdf8"/>
                </a:solidFill>
                <a:latin typeface="Arial"/>
                <a:ea typeface="Arial"/>
              </a:rPr>
              <a:t>Infrastruttura IT</a:t>
            </a:r>
            <a:endParaRPr b="0" lang="it-IT" sz="45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2126520" y="2089800"/>
            <a:ext cx="489024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5400"/>
              </a:lnSpc>
            </a:pPr>
            <a:r>
              <a:rPr b="1" lang="it-IT" sz="4500" spc="-1" strike="noStrike">
                <a:solidFill>
                  <a:srgbClr val="38bdf8"/>
                </a:solidFill>
                <a:latin typeface="Arial"/>
                <a:ea typeface="Arial"/>
              </a:rPr>
              <a:t>Compagnia Theta</a:t>
            </a:r>
            <a:endParaRPr b="0" lang="it-IT" sz="45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2614680" y="3080520"/>
            <a:ext cx="39139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0" lang="it-IT" sz="1800" spc="-1" strike="noStrike">
                <a:solidFill>
                  <a:srgbClr val="cbd5e1"/>
                </a:solidFill>
                <a:latin typeface="Arial"/>
                <a:ea typeface="Arial"/>
              </a:rPr>
              <a:t>Rete Sicura e Segmentata per 6 Piani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3015000" y="4120200"/>
            <a:ext cx="2703600" cy="18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1471"/>
              </a:lnSpc>
            </a:pPr>
            <a:r>
              <a:rPr b="0" lang="it-IT" sz="1050" spc="-1" strike="noStrike">
                <a:solidFill>
                  <a:srgbClr val="94a3b8"/>
                </a:solidFill>
                <a:latin typeface="Arial"/>
                <a:ea typeface="Arial"/>
              </a:rPr>
              <a:t>Team Sniffing Sockets • Progetto Build Week</a:t>
            </a:r>
            <a:endParaRPr b="0" lang="it-IT" sz="105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1694160" y="3573720"/>
            <a:ext cx="1253880" cy="127908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9" name="Immagine 14" descr=""/>
          <p:cNvPicPr/>
          <p:nvPr/>
        </p:nvPicPr>
        <p:blipFill>
          <a:blip r:embed="rId1"/>
          <a:stretch/>
        </p:blipFill>
        <p:spPr>
          <a:xfrm>
            <a:off x="1409040" y="3547800"/>
            <a:ext cx="1824120" cy="1330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Obiettivi del Progetto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38bdf8"/>
                </a:solidFill>
                <a:latin typeface="Arial"/>
                <a:ea typeface="Arial"/>
              </a:rPr>
              <a:t>Connettività: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120 postazioni di lavoro su 6 piani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38bdf8"/>
                </a:solidFill>
                <a:latin typeface="Arial"/>
                <a:ea typeface="Arial"/>
              </a:rPr>
              <a:t>Segmentazione: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VLAN logiche per isolamento traffico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38bdf8"/>
                </a:solidFill>
                <a:latin typeface="Arial"/>
                <a:ea typeface="Arial"/>
              </a:rPr>
              <a:t>Sicurezza: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Firewall perimetrale + 3 IDS/IPS strategie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38bdf8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38bdf8"/>
                </a:solidFill>
                <a:latin typeface="Arial"/>
                <a:ea typeface="Arial"/>
              </a:rPr>
              <a:t>Storage: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NAS centralizzato con RAID tolleranza guasti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3340800" y="1087560"/>
            <a:ext cx="2462040" cy="1249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CustomShape 2"/>
          <p:cNvSpPr/>
          <p:nvPr/>
        </p:nvSpPr>
        <p:spPr>
          <a:xfrm>
            <a:off x="3340800" y="2337120"/>
            <a:ext cx="2462040" cy="1249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" name="CustomShape 3"/>
          <p:cNvSpPr/>
          <p:nvPr/>
        </p:nvSpPr>
        <p:spPr>
          <a:xfrm>
            <a:off x="3340800" y="3586680"/>
            <a:ext cx="2462040" cy="1185120"/>
          </a:xfrm>
          <a:prstGeom prst="rect">
            <a:avLst/>
          </a:prstGeom>
          <a:solidFill>
            <a:srgbClr val="00c447"/>
          </a:solidFill>
          <a:ln>
            <a:noFill/>
          </a:ln>
          <a:effectLst>
            <a:outerShdw algn="bl" blurRad="152400" dir="5400000" dist="76320" rotWithShape="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CustomShape 4"/>
          <p:cNvSpPr/>
          <p:nvPr/>
        </p:nvSpPr>
        <p:spPr>
          <a:xfrm>
            <a:off x="2638440" y="371160"/>
            <a:ext cx="38667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Struttura Edificio Theta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56" name="CustomShape 5"/>
          <p:cNvSpPr/>
          <p:nvPr/>
        </p:nvSpPr>
        <p:spPr>
          <a:xfrm>
            <a:off x="3627000" y="1392120"/>
            <a:ext cx="18892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1" lang="it-IT" sz="2100" spc="-1" strike="noStrike">
                <a:solidFill>
                  <a:srgbClr val="38bdf8"/>
                </a:solidFill>
                <a:latin typeface="Arial"/>
                <a:ea typeface="Arial"/>
              </a:rPr>
              <a:t>6 Piani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57" name="CustomShape 6"/>
          <p:cNvSpPr/>
          <p:nvPr/>
        </p:nvSpPr>
        <p:spPr>
          <a:xfrm>
            <a:off x="3627000" y="1712160"/>
            <a:ext cx="18892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0" lang="it-IT" sz="1800" spc="-1" strike="noStrike">
                <a:solidFill>
                  <a:srgbClr val="cbd5e1"/>
                </a:solidFill>
                <a:latin typeface="Arial"/>
                <a:ea typeface="Arial"/>
              </a:rPr>
              <a:t>+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58" name="CustomShape 7"/>
          <p:cNvSpPr/>
          <p:nvPr/>
        </p:nvSpPr>
        <p:spPr>
          <a:xfrm>
            <a:off x="3627000" y="2641680"/>
            <a:ext cx="18892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1" lang="it-IT" sz="2100" spc="-1" strike="noStrike">
                <a:solidFill>
                  <a:srgbClr val="38bdf8"/>
                </a:solidFill>
                <a:latin typeface="Arial"/>
                <a:ea typeface="Arial"/>
              </a:rPr>
              <a:t>20 PC/Piano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59" name="CustomShape 8"/>
          <p:cNvSpPr/>
          <p:nvPr/>
        </p:nvSpPr>
        <p:spPr>
          <a:xfrm>
            <a:off x="3627000" y="2961720"/>
            <a:ext cx="18892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0" lang="it-IT" sz="1800" spc="-1" strike="noStrike">
                <a:solidFill>
                  <a:srgbClr val="cbd5e1"/>
                </a:solidFill>
                <a:latin typeface="Arial"/>
                <a:ea typeface="Arial"/>
              </a:rPr>
              <a:t>=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60" name="CustomShape 9"/>
          <p:cNvSpPr/>
          <p:nvPr/>
        </p:nvSpPr>
        <p:spPr>
          <a:xfrm>
            <a:off x="3627000" y="3891240"/>
            <a:ext cx="188928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1" lang="it-IT" sz="2100" spc="-1" strike="noStrike">
                <a:solidFill>
                  <a:srgbClr val="ffffff"/>
                </a:solidFill>
                <a:latin typeface="Arial"/>
                <a:ea typeface="Arial"/>
              </a:rPr>
              <a:t>120 Postazioni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61" name="CustomShape 10"/>
          <p:cNvSpPr/>
          <p:nvPr/>
        </p:nvSpPr>
        <p:spPr>
          <a:xfrm>
            <a:off x="3627000" y="4211280"/>
            <a:ext cx="18892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015"/>
              </a:lnSpc>
            </a:pPr>
            <a:r>
              <a:rPr b="0" lang="it-IT" sz="1439" spc="-1" strike="noStrike">
                <a:solidFill>
                  <a:srgbClr val="ffffff"/>
                </a:solidFill>
                <a:latin typeface="Arial"/>
                <a:ea typeface="Arial"/>
              </a:rPr>
              <a:t>Totali</a:t>
            </a:r>
            <a:endParaRPr b="0" lang="it-IT" sz="143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609480" y="1249560"/>
            <a:ext cx="7924320" cy="1136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CustomShape 2"/>
          <p:cNvSpPr/>
          <p:nvPr/>
        </p:nvSpPr>
        <p:spPr>
          <a:xfrm>
            <a:off x="609480" y="2615040"/>
            <a:ext cx="7924320" cy="1136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CustomShape 3"/>
          <p:cNvSpPr/>
          <p:nvPr/>
        </p:nvSpPr>
        <p:spPr>
          <a:xfrm>
            <a:off x="609480" y="3980160"/>
            <a:ext cx="7924320" cy="1136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5" name="CustomShape 4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VLAN: Segmentazione Logica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66" name="CustomShape 5"/>
          <p:cNvSpPr/>
          <p:nvPr/>
        </p:nvSpPr>
        <p:spPr>
          <a:xfrm>
            <a:off x="838080" y="14781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VLAN 10-60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67" name="CustomShape 6"/>
          <p:cNvSpPr/>
          <p:nvPr/>
        </p:nvSpPr>
        <p:spPr>
          <a:xfrm>
            <a:off x="838080" y="17524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6 reparti aziendali, una per piano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68" name="CustomShape 7"/>
          <p:cNvSpPr/>
          <p:nvPr/>
        </p:nvSpPr>
        <p:spPr>
          <a:xfrm>
            <a:off x="838080" y="1965600"/>
            <a:ext cx="761652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511"/>
              </a:lnSpc>
            </a:pPr>
            <a:r>
              <a:rPr b="0" lang="it-IT" sz="1080" spc="-1" strike="noStrike">
                <a:solidFill>
                  <a:srgbClr val="94a3b8"/>
                </a:solidFill>
                <a:latin typeface="Arial"/>
                <a:ea typeface="Arial"/>
              </a:rPr>
              <a:t>Isolamento traffico broadcast</a:t>
            </a:r>
            <a:endParaRPr b="0" lang="it-IT" sz="1080" spc="-1" strike="noStrike">
              <a:latin typeface="Arial"/>
            </a:endParaRPr>
          </a:p>
        </p:txBody>
      </p:sp>
      <p:sp>
        <p:nvSpPr>
          <p:cNvPr id="69" name="CustomShape 8"/>
          <p:cNvSpPr/>
          <p:nvPr/>
        </p:nvSpPr>
        <p:spPr>
          <a:xfrm>
            <a:off x="838080" y="28436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VLAN 100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70" name="CustomShape 9"/>
          <p:cNvSpPr/>
          <p:nvPr/>
        </p:nvSpPr>
        <p:spPr>
          <a:xfrm>
            <a:off x="838080" y="31179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Area server e NAS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1" name="CustomShape 10"/>
          <p:cNvSpPr/>
          <p:nvPr/>
        </p:nvSpPr>
        <p:spPr>
          <a:xfrm>
            <a:off x="838080" y="3331080"/>
            <a:ext cx="761652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511"/>
              </a:lnSpc>
            </a:pPr>
            <a:r>
              <a:rPr b="0" lang="it-IT" sz="1080" spc="-1" strike="noStrike">
                <a:solidFill>
                  <a:srgbClr val="94a3b8"/>
                </a:solidFill>
                <a:latin typeface="Arial"/>
                <a:ea typeface="Arial"/>
              </a:rPr>
              <a:t>Accesso controllato</a:t>
            </a:r>
            <a:endParaRPr b="0" lang="it-IT" sz="1080" spc="-1" strike="noStrike">
              <a:latin typeface="Arial"/>
            </a:endParaRPr>
          </a:p>
        </p:txBody>
      </p:sp>
      <p:sp>
        <p:nvSpPr>
          <p:cNvPr id="72" name="CustomShape 11"/>
          <p:cNvSpPr/>
          <p:nvPr/>
        </p:nvSpPr>
        <p:spPr>
          <a:xfrm>
            <a:off x="838080" y="42087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VLAN 200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73" name="CustomShape 12"/>
          <p:cNvSpPr/>
          <p:nvPr/>
        </p:nvSpPr>
        <p:spPr>
          <a:xfrm>
            <a:off x="838080" y="44830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DMZ - Web Server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74" name="CustomShape 13"/>
          <p:cNvSpPr/>
          <p:nvPr/>
        </p:nvSpPr>
        <p:spPr>
          <a:xfrm>
            <a:off x="838080" y="4696560"/>
            <a:ext cx="761652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511"/>
              </a:lnSpc>
            </a:pPr>
            <a:r>
              <a:rPr b="0" lang="it-IT" sz="1080" spc="-1" strike="noStrike">
                <a:solidFill>
                  <a:srgbClr val="94a3b8"/>
                </a:solidFill>
                <a:latin typeface="Arial"/>
                <a:ea typeface="Arial"/>
              </a:rPr>
              <a:t>Isolamento massimo</a:t>
            </a:r>
            <a:endParaRPr b="0" lang="it-IT" sz="10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Router On-a-Stick: Inter-VLAN Routing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Trunk 802.1Q: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Un'interfaccia verso switch trasporta tutte le VLAN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Sub-interfacce: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G0/0.10, G0/0.20... una per VLAN con encapsulation dot1Q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IP Gateway: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Ogni sub-interfaccia ha IP della propria rete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DHCP Server: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Un pool per ogni rete, assegna IP dinamicamente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648000" y="63648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" name="CustomShape 2"/>
          <p:cNvSpPr/>
          <p:nvPr/>
        </p:nvSpPr>
        <p:spPr>
          <a:xfrm>
            <a:off x="648000" y="136800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CustomShape 3"/>
          <p:cNvSpPr/>
          <p:nvPr/>
        </p:nvSpPr>
        <p:spPr>
          <a:xfrm>
            <a:off x="648000" y="213804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CustomShape 4"/>
          <p:cNvSpPr/>
          <p:nvPr/>
        </p:nvSpPr>
        <p:spPr>
          <a:xfrm>
            <a:off x="643680" y="288000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CustomShape 5"/>
          <p:cNvSpPr/>
          <p:nvPr/>
        </p:nvSpPr>
        <p:spPr>
          <a:xfrm>
            <a:off x="643680" y="361008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CustomShape 6"/>
          <p:cNvSpPr/>
          <p:nvPr/>
        </p:nvSpPr>
        <p:spPr>
          <a:xfrm>
            <a:off x="643680" y="4380480"/>
            <a:ext cx="7924320" cy="659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CustomShape 7"/>
          <p:cNvSpPr/>
          <p:nvPr/>
        </p:nvSpPr>
        <p:spPr>
          <a:xfrm>
            <a:off x="1728000" y="928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Configurazione DHCP per Reparti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84" name="CustomShape 8"/>
          <p:cNvSpPr/>
          <p:nvPr/>
        </p:nvSpPr>
        <p:spPr>
          <a:xfrm>
            <a:off x="792000" y="72000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IT / Infrastruttura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85" name="CustomShape 9"/>
          <p:cNvSpPr/>
          <p:nvPr/>
        </p:nvSpPr>
        <p:spPr>
          <a:xfrm>
            <a:off x="792000" y="100800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10 • 192.168.10.0/24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86" name="CustomShape 10"/>
          <p:cNvSpPr/>
          <p:nvPr/>
        </p:nvSpPr>
        <p:spPr>
          <a:xfrm>
            <a:off x="723960" y="141084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R&amp;D / Operations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87" name="CustomShape 11"/>
          <p:cNvSpPr/>
          <p:nvPr/>
        </p:nvSpPr>
        <p:spPr>
          <a:xfrm>
            <a:off x="792000" y="169092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20 • 192.168.20.0/24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88" name="CustomShape 12"/>
          <p:cNvSpPr/>
          <p:nvPr/>
        </p:nvSpPr>
        <p:spPr>
          <a:xfrm>
            <a:off x="720000" y="220284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Vendite / Marketing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89" name="CustomShape 13"/>
          <p:cNvSpPr/>
          <p:nvPr/>
        </p:nvSpPr>
        <p:spPr>
          <a:xfrm>
            <a:off x="800280" y="252000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30 • 192.168.30.0/24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90" name="CustomShape 14"/>
          <p:cNvSpPr/>
          <p:nvPr/>
        </p:nvSpPr>
        <p:spPr>
          <a:xfrm>
            <a:off x="720000" y="292284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HR / Staff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91" name="CustomShape 15"/>
          <p:cNvSpPr/>
          <p:nvPr/>
        </p:nvSpPr>
        <p:spPr>
          <a:xfrm>
            <a:off x="792000" y="320292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40 • 192.168.40.0/24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92" name="CustomShape 16"/>
          <p:cNvSpPr/>
          <p:nvPr/>
        </p:nvSpPr>
        <p:spPr>
          <a:xfrm>
            <a:off x="723960" y="371484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Amministrazione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93" name="CustomShape 17"/>
          <p:cNvSpPr/>
          <p:nvPr/>
        </p:nvSpPr>
        <p:spPr>
          <a:xfrm>
            <a:off x="792000" y="396000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50 • 192.168.50.0/24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94" name="CustomShape 18"/>
          <p:cNvSpPr/>
          <p:nvPr/>
        </p:nvSpPr>
        <p:spPr>
          <a:xfrm>
            <a:off x="723960" y="4464000"/>
            <a:ext cx="7772040" cy="17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369"/>
              </a:lnSpc>
            </a:pPr>
            <a:r>
              <a:rPr b="1" lang="it-IT" sz="1139" spc="-1" strike="noStrike">
                <a:solidFill>
                  <a:srgbClr val="38bdf8"/>
                </a:solidFill>
                <a:latin typeface="Arial"/>
                <a:ea typeface="Arial"/>
              </a:rPr>
              <a:t>Direzione</a:t>
            </a:r>
            <a:endParaRPr b="0" lang="it-IT" sz="1139" spc="-1" strike="noStrike">
              <a:latin typeface="Arial"/>
            </a:endParaRPr>
          </a:p>
        </p:txBody>
      </p:sp>
      <p:sp>
        <p:nvSpPr>
          <p:cNvPr id="95" name="CustomShape 19"/>
          <p:cNvSpPr/>
          <p:nvPr/>
        </p:nvSpPr>
        <p:spPr>
          <a:xfrm>
            <a:off x="723960" y="471492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VLAN 60 • 192.168.60.0/24</a:t>
            </a:r>
            <a:endParaRPr b="0" lang="it-IT" sz="101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NAS: Archiviazione Centralizzata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9500"/>
                </a:solidFill>
                <a:latin typeface="Arial"/>
                <a:ea typeface="Arial"/>
              </a:rPr>
              <a:t>Posizionamento: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VLAN 100 (192.168.100.0/24) al piano terra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9500"/>
                </a:solidFill>
                <a:latin typeface="Arial"/>
                <a:ea typeface="Arial"/>
              </a:rPr>
              <a:t>RAID Storage: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Tolleranza ai guasti, dati integri anche con disco fallito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9500"/>
                </a:solidFill>
                <a:latin typeface="Arial"/>
                <a:ea typeface="Arial"/>
              </a:rPr>
              <a:t>Accesso: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Da tutte le VLAN via router on a stick con ACL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9500"/>
                </a:solidFill>
                <a:latin typeface="Arial"/>
                <a:ea typeface="Arial"/>
              </a:rPr>
              <a:t>Backup: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Condivisione centralizzata di file aziendali in sicurezza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Firewall Perimetrale: Difesa Esterna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ff4444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4444"/>
                </a:solidFill>
                <a:latin typeface="Arial"/>
                <a:ea typeface="Arial"/>
              </a:rPr>
              <a:t>Posizione: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Tra router centrale e Internet / Cloud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4444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4444"/>
                </a:solidFill>
                <a:latin typeface="Arial"/>
                <a:ea typeface="Arial"/>
              </a:rPr>
              <a:t>Ruolo: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Stateful filtering, NAT, policy di accesso tra zone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4444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4444"/>
                </a:solidFill>
                <a:latin typeface="Arial"/>
                <a:ea typeface="Arial"/>
              </a:rPr>
              <a:t>DMZ Interface: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Porta dedicata verso VLAN 200 (web server esposto)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ff4444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ff4444"/>
                </a:solidFill>
                <a:latin typeface="Arial"/>
                <a:ea typeface="Arial"/>
              </a:rPr>
              <a:t>Blocco Traffico: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Nega di default dalla DMZ verso LAN interna e NAS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609480" y="1249560"/>
            <a:ext cx="7924320" cy="126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CustomShape 2"/>
          <p:cNvSpPr/>
          <p:nvPr/>
        </p:nvSpPr>
        <p:spPr>
          <a:xfrm>
            <a:off x="609480" y="2747160"/>
            <a:ext cx="7924320" cy="1268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CustomShape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DMZ: Zona Demilitarizzata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03" name="CustomShape 4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4444"/>
                </a:solidFill>
                <a:latin typeface="Arial"/>
                <a:ea typeface="Arial"/>
              </a:rPr>
              <a:t>Cos'è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914400" y="187452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Segmento isolato tra LAN interna e Internet, protetto da firewall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5" name="CustomShape 6"/>
          <p:cNvSpPr/>
          <p:nvPr/>
        </p:nvSpPr>
        <p:spPr>
          <a:xfrm>
            <a:off x="914400" y="305172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4444"/>
                </a:solidFill>
                <a:latin typeface="Arial"/>
                <a:ea typeface="Arial"/>
              </a:rPr>
              <a:t>VLAN 200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06" name="CustomShape 7"/>
          <p:cNvSpPr/>
          <p:nvPr/>
        </p:nvSpPr>
        <p:spPr>
          <a:xfrm>
            <a:off x="914400" y="337176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192.168.200.0/24 • Web Server DVWA ospitato qui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07" name="CustomShape 8"/>
          <p:cNvSpPr/>
          <p:nvPr/>
        </p:nvSpPr>
        <p:spPr>
          <a:xfrm>
            <a:off x="609480" y="4320720"/>
            <a:ext cx="808308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1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Protezione: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Compromissione web server ≠ accesso LAN interna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609480" y="1249560"/>
            <a:ext cx="7924320" cy="15274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CustomShape 2"/>
          <p:cNvSpPr/>
          <p:nvPr/>
        </p:nvSpPr>
        <p:spPr>
          <a:xfrm>
            <a:off x="609480" y="3006000"/>
            <a:ext cx="7924320" cy="15274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CustomShape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IDS/IPS: Rilevamento e Blocco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IDS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914400" y="187452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1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Rileva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anomalie, invia </a:t>
            </a:r>
            <a:r>
              <a:rPr b="1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alert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3" name="CustomShape 6"/>
          <p:cNvSpPr/>
          <p:nvPr/>
        </p:nvSpPr>
        <p:spPr>
          <a:xfrm>
            <a:off x="914400" y="2087640"/>
            <a:ext cx="746100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511"/>
              </a:lnSpc>
            </a:pPr>
            <a:r>
              <a:rPr b="0" lang="it-IT" sz="1080" spc="-1" strike="noStrike">
                <a:solidFill>
                  <a:srgbClr val="94a3b8"/>
                </a:solidFill>
                <a:latin typeface="Arial"/>
                <a:ea typeface="Arial"/>
              </a:rPr>
              <a:t>Non blocca, solo monitora (in parallelo)</a:t>
            </a:r>
            <a:endParaRPr b="0" lang="it-IT" sz="1080" spc="-1" strike="noStrike">
              <a:latin typeface="Arial"/>
            </a:endParaRPr>
          </a:p>
        </p:txBody>
      </p:sp>
      <p:sp>
        <p:nvSpPr>
          <p:cNvPr id="114" name="CustomShape 7"/>
          <p:cNvSpPr/>
          <p:nvPr/>
        </p:nvSpPr>
        <p:spPr>
          <a:xfrm>
            <a:off x="914400" y="331092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IPS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15" name="CustomShape 8"/>
          <p:cNvSpPr/>
          <p:nvPr/>
        </p:nvSpPr>
        <p:spPr>
          <a:xfrm>
            <a:off x="914400" y="363096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1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Rileva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anomalie, </a:t>
            </a:r>
            <a:r>
              <a:rPr b="1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blocca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16" name="CustomShape 9"/>
          <p:cNvSpPr/>
          <p:nvPr/>
        </p:nvSpPr>
        <p:spPr>
          <a:xfrm>
            <a:off x="914400" y="3844080"/>
            <a:ext cx="7461000" cy="19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511"/>
              </a:lnSpc>
            </a:pPr>
            <a:r>
              <a:rPr b="0" lang="it-IT" sz="1080" spc="-1" strike="noStrike">
                <a:solidFill>
                  <a:srgbClr val="94a3b8"/>
                </a:solidFill>
                <a:latin typeface="Arial"/>
                <a:ea typeface="Arial"/>
              </a:rPr>
              <a:t>Agisce in real-time (in linea)</a:t>
            </a:r>
            <a:endParaRPr b="0" lang="it-IT" sz="10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3 IDS/IPS Strategici nella Rete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914400" y="1173240"/>
            <a:ext cx="7619760" cy="1340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160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ff9500"/>
                </a:solidFill>
                <a:latin typeface="Arial"/>
                <a:ea typeface="Arial"/>
              </a:rPr>
              <a:t>IPS1 (Perimetro ↔ LAN):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Tra firewall e router centrale • Controlla attacchi verso VLAN interne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ff9500"/>
                </a:solidFill>
                <a:latin typeface="Arial"/>
                <a:ea typeface="Arial"/>
              </a:rPr>
              <a:t>IPS2 (Perimetro ↔ DMZ):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Tra firewall e VLAN 200 • Blocca exploit/scansioni verso web server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ff9500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ff9500"/>
                </a:solidFill>
                <a:latin typeface="Arial"/>
                <a:ea typeface="Arial"/>
              </a:rPr>
              <a:t>IDS1 (Monitoraggio LAN/Server):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Su VLAN 100 • Rileva accessi anomali al NAS, esfiltrazione dati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Web Server: DVWA in DMZ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Metasploitable: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Macchina vulnerabile per test e demo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DVWA: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Damn Vulnerable Web Application - app target per security testing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Accesso: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Solo da Internet verso porte consentite (80, 443)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Isolamento: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Nessun accesso verso LAN e NAS per default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Cloud: Connessione verso Esterno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Default Route: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Tutte le VLAN escono verso firewall → Internet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NAT: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Firewall traduce IP interni in IP pubblico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DMZ Esterna: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Web server raggiungibile da Internet tramite firewall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Sicurezza: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IPS e firewall monitorano traffico esterno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2178360" y="2251800"/>
            <a:ext cx="478656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Topologia: Visione Completa</a:t>
            </a:r>
            <a:endParaRPr b="0" lang="it-IT" sz="2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609480" y="124956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CustomShape 2"/>
          <p:cNvSpPr/>
          <p:nvPr/>
        </p:nvSpPr>
        <p:spPr>
          <a:xfrm>
            <a:off x="609480" y="23468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CustomShape 3"/>
          <p:cNvSpPr/>
          <p:nvPr/>
        </p:nvSpPr>
        <p:spPr>
          <a:xfrm>
            <a:off x="609480" y="344376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7" name="CustomShape 4"/>
          <p:cNvSpPr/>
          <p:nvPr/>
        </p:nvSpPr>
        <p:spPr>
          <a:xfrm>
            <a:off x="609480" y="45410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8" name="CustomShape 5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Vantaggi della Segmentazione VLAN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29" name="CustomShape 6"/>
          <p:cNvSpPr/>
          <p:nvPr/>
        </p:nvSpPr>
        <p:spPr>
          <a:xfrm>
            <a:off x="838080" y="14781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Isolamento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30" name="CustomShape 7"/>
          <p:cNvSpPr/>
          <p:nvPr/>
        </p:nvSpPr>
        <p:spPr>
          <a:xfrm>
            <a:off x="838080" y="17524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Broadcast confinati a ogni VLAN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31" name="CustomShape 8"/>
          <p:cNvSpPr/>
          <p:nvPr/>
        </p:nvSpPr>
        <p:spPr>
          <a:xfrm>
            <a:off x="838080" y="25754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Performance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32" name="CustomShape 9"/>
          <p:cNvSpPr/>
          <p:nvPr/>
        </p:nvSpPr>
        <p:spPr>
          <a:xfrm>
            <a:off x="838080" y="28497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Domini di broadcast ridotti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33" name="CustomShape 10"/>
          <p:cNvSpPr/>
          <p:nvPr/>
        </p:nvSpPr>
        <p:spPr>
          <a:xfrm>
            <a:off x="838080" y="36723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Sicurezza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34" name="CustomShape 11"/>
          <p:cNvSpPr/>
          <p:nvPr/>
        </p:nvSpPr>
        <p:spPr>
          <a:xfrm>
            <a:off x="838080" y="39466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Policy controllate per ogni reparto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35" name="CustomShape 12"/>
          <p:cNvSpPr/>
          <p:nvPr/>
        </p:nvSpPr>
        <p:spPr>
          <a:xfrm>
            <a:off x="838080" y="47696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Scalabilità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36" name="CustomShape 13"/>
          <p:cNvSpPr/>
          <p:nvPr/>
        </p:nvSpPr>
        <p:spPr>
          <a:xfrm>
            <a:off x="838080" y="50439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Aggiunta reparti senza ricablaggi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609480" y="132588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CustomShape 2"/>
          <p:cNvSpPr/>
          <p:nvPr/>
        </p:nvSpPr>
        <p:spPr>
          <a:xfrm>
            <a:off x="609480" y="23468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CustomShape 3"/>
          <p:cNvSpPr/>
          <p:nvPr/>
        </p:nvSpPr>
        <p:spPr>
          <a:xfrm>
            <a:off x="609480" y="344376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CustomShape 4"/>
          <p:cNvSpPr/>
          <p:nvPr/>
        </p:nvSpPr>
        <p:spPr>
          <a:xfrm>
            <a:off x="609480" y="45410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CustomShape 5"/>
          <p:cNvSpPr/>
          <p:nvPr/>
        </p:nvSpPr>
        <p:spPr>
          <a:xfrm>
            <a:off x="609480" y="609480"/>
            <a:ext cx="7791120" cy="5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Router-Firewall perimetrale e centrale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42" name="CustomShape 6"/>
          <p:cNvSpPr/>
          <p:nvPr/>
        </p:nvSpPr>
        <p:spPr>
          <a:xfrm>
            <a:off x="838080" y="14781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Gestione degli accessi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43" name="CustomShape 7"/>
          <p:cNvSpPr/>
          <p:nvPr/>
        </p:nvSpPr>
        <p:spPr>
          <a:xfrm>
            <a:off x="838080" y="17524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Controllo degli utente e dei permessi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4" name="CustomShape 8"/>
          <p:cNvSpPr/>
          <p:nvPr/>
        </p:nvSpPr>
        <p:spPr>
          <a:xfrm>
            <a:off x="838080" y="25754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Protezione 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45" name="CustomShape 9"/>
          <p:cNvSpPr/>
          <p:nvPr/>
        </p:nvSpPr>
        <p:spPr>
          <a:xfrm>
            <a:off x="838080" y="28497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Contro minacce e hacker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6" name="CustomShape 10"/>
          <p:cNvSpPr/>
          <p:nvPr/>
        </p:nvSpPr>
        <p:spPr>
          <a:xfrm>
            <a:off x="838080" y="36723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Filtraggio del Traffico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47" name="CustomShape 11"/>
          <p:cNvSpPr/>
          <p:nvPr/>
        </p:nvSpPr>
        <p:spPr>
          <a:xfrm>
            <a:off x="838080" y="39466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Selezione accurata dei pacchetti dati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48" name="CustomShape 12"/>
          <p:cNvSpPr/>
          <p:nvPr/>
        </p:nvSpPr>
        <p:spPr>
          <a:xfrm>
            <a:off x="838080" y="47696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Monitoraggio in tempo reale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49" name="CustomShape 13"/>
          <p:cNvSpPr/>
          <p:nvPr/>
        </p:nvSpPr>
        <p:spPr>
          <a:xfrm>
            <a:off x="838080" y="50439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Analisi costante dei flussi di rete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CustomShape 1"/>
          <p:cNvSpPr/>
          <p:nvPr/>
        </p:nvSpPr>
        <p:spPr>
          <a:xfrm>
            <a:off x="609480" y="132588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CustomShape 2"/>
          <p:cNvSpPr/>
          <p:nvPr/>
        </p:nvSpPr>
        <p:spPr>
          <a:xfrm>
            <a:off x="609480" y="23468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CustomShape 3"/>
          <p:cNvSpPr/>
          <p:nvPr/>
        </p:nvSpPr>
        <p:spPr>
          <a:xfrm>
            <a:off x="609480" y="344376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CustomShape 4"/>
          <p:cNvSpPr/>
          <p:nvPr/>
        </p:nvSpPr>
        <p:spPr>
          <a:xfrm>
            <a:off x="609480" y="609480"/>
            <a:ext cx="7791120" cy="5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</a:rPr>
              <a:t>Simulazione Firewall Pfsense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54" name="CustomShape 5"/>
          <p:cNvSpPr/>
          <p:nvPr/>
        </p:nvSpPr>
        <p:spPr>
          <a:xfrm>
            <a:off x="838080" y="14781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Kali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55" name="CustomShape 6"/>
          <p:cNvSpPr/>
          <p:nvPr/>
        </p:nvSpPr>
        <p:spPr>
          <a:xfrm>
            <a:off x="838080" y="17524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Ambiente virtuale che rappresenta il nostro host della rete simulata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6" name="CustomShape 7"/>
          <p:cNvSpPr/>
          <p:nvPr/>
        </p:nvSpPr>
        <p:spPr>
          <a:xfrm>
            <a:off x="838080" y="25754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Metasploitable (DMZ)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57" name="CustomShape 8"/>
          <p:cNvSpPr/>
          <p:nvPr/>
        </p:nvSpPr>
        <p:spPr>
          <a:xfrm>
            <a:off x="838080" y="28497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La macchina Metasploitable rappresenta il nostro server web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58" name="CustomShape 9"/>
          <p:cNvSpPr/>
          <p:nvPr/>
        </p:nvSpPr>
        <p:spPr>
          <a:xfrm>
            <a:off x="838080" y="36723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Pfsense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59" name="CustomShape 10"/>
          <p:cNvSpPr/>
          <p:nvPr/>
        </p:nvSpPr>
        <p:spPr>
          <a:xfrm>
            <a:off x="838080" y="39466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Il nostro Router-Firewall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0" name="CustomShape 11"/>
          <p:cNvSpPr/>
          <p:nvPr/>
        </p:nvSpPr>
        <p:spPr>
          <a:xfrm>
            <a:off x="838080" y="47696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12"/>
          <p:cNvSpPr/>
          <p:nvPr/>
        </p:nvSpPr>
        <p:spPr>
          <a:xfrm>
            <a:off x="838080" y="50439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609480" y="132588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CustomShape 2"/>
          <p:cNvSpPr/>
          <p:nvPr/>
        </p:nvSpPr>
        <p:spPr>
          <a:xfrm>
            <a:off x="609480" y="234684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4" name="CustomShape 3"/>
          <p:cNvSpPr/>
          <p:nvPr/>
        </p:nvSpPr>
        <p:spPr>
          <a:xfrm>
            <a:off x="609480" y="3443760"/>
            <a:ext cx="7924320" cy="9442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5" name="CustomShape 4"/>
          <p:cNvSpPr/>
          <p:nvPr/>
        </p:nvSpPr>
        <p:spPr>
          <a:xfrm>
            <a:off x="609480" y="609480"/>
            <a:ext cx="7791120" cy="5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</a:rPr>
              <a:t>Regole implementate e Ping Test 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66" name="CustomShape 5"/>
          <p:cNvSpPr/>
          <p:nvPr/>
        </p:nvSpPr>
        <p:spPr>
          <a:xfrm>
            <a:off x="838080" y="14781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LAN – WAN – DMZ - NAS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67" name="CustomShape 6"/>
          <p:cNvSpPr/>
          <p:nvPr/>
        </p:nvSpPr>
        <p:spPr>
          <a:xfrm>
            <a:off x="838080" y="17524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Esposizione delle regole di blocco e di permesso introdotte per la varie interfacce </a:t>
            </a:r>
            <a:endParaRPr b="0" lang="it-IT" sz="1200" spc="-1" strike="noStrike">
              <a:latin typeface="Arial"/>
            </a:endParaRPr>
          </a:p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 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che seguono una logica giusta per la difesa della rete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68" name="CustomShape 7"/>
          <p:cNvSpPr/>
          <p:nvPr/>
        </p:nvSpPr>
        <p:spPr>
          <a:xfrm>
            <a:off x="838080" y="25754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Kali ping to Meta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69" name="CustomShape 8"/>
          <p:cNvSpPr/>
          <p:nvPr/>
        </p:nvSpPr>
        <p:spPr>
          <a:xfrm>
            <a:off x="838080" y="28497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Dopo aver permesso e attivato la regola del Ping,</a:t>
            </a:r>
            <a:endParaRPr b="0" lang="it-IT" sz="1200" spc="-1" strike="noStrike">
              <a:latin typeface="Arial"/>
            </a:endParaRPr>
          </a:p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effettueremo il test di connettività dalla Kali verso la Meta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70" name="CustomShape 9"/>
          <p:cNvSpPr/>
          <p:nvPr/>
        </p:nvSpPr>
        <p:spPr>
          <a:xfrm>
            <a:off x="838080" y="367236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</a:rPr>
              <a:t>Pfsense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171" name="CustomShape 10"/>
          <p:cNvSpPr/>
          <p:nvPr/>
        </p:nvSpPr>
        <p:spPr>
          <a:xfrm>
            <a:off x="838080" y="394668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Il nostro Router-Firewall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72" name="CustomShape 11"/>
          <p:cNvSpPr/>
          <p:nvPr/>
        </p:nvSpPr>
        <p:spPr>
          <a:xfrm>
            <a:off x="838080" y="4769640"/>
            <a:ext cx="76165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12"/>
          <p:cNvSpPr/>
          <p:nvPr/>
        </p:nvSpPr>
        <p:spPr>
          <a:xfrm>
            <a:off x="838080" y="5043960"/>
            <a:ext cx="761652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609480" y="1249560"/>
            <a:ext cx="7924320" cy="15274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CustomShape 2"/>
          <p:cNvSpPr/>
          <p:nvPr/>
        </p:nvSpPr>
        <p:spPr>
          <a:xfrm>
            <a:off x="609480" y="3006000"/>
            <a:ext cx="7924320" cy="15274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6" name="CustomShape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Testing della Rete: Strumenti Python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77" name="CustomShape 4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HTTP Verb Tester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78" name="CustomShape 5"/>
          <p:cNvSpPr/>
          <p:nvPr/>
        </p:nvSpPr>
        <p:spPr>
          <a:xfrm>
            <a:off x="914400" y="187452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Test verbi HTTP (GET, POST, PUT, DELETE, HEAD, OPTIONS, PATCH, TRACE) verso DVWA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79" name="CustomShape 6"/>
          <p:cNvSpPr/>
          <p:nvPr/>
        </p:nvSpPr>
        <p:spPr>
          <a:xfrm>
            <a:off x="914400" y="331092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Port Scanner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80" name="CustomShape 7"/>
          <p:cNvSpPr/>
          <p:nvPr/>
        </p:nvSpPr>
        <p:spPr>
          <a:xfrm>
            <a:off x="914400" y="363096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Scansione porte su dispositivi per identificare servizi attivi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609480" y="1249560"/>
            <a:ext cx="7924320" cy="15274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2" name="CustomShape 2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Testing della Rete: Strumenti Python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83" name="CustomShape 3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Sniffer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84" name="CustomShape 4"/>
          <p:cNvSpPr/>
          <p:nvPr/>
        </p:nvSpPr>
        <p:spPr>
          <a:xfrm>
            <a:off x="914400" y="187452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Scansione dei pacchetti in transito sulla macchina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85" name="CustomShape 5"/>
          <p:cNvSpPr/>
          <p:nvPr/>
        </p:nvSpPr>
        <p:spPr>
          <a:xfrm>
            <a:off x="914400" y="331092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CustomShape 6"/>
          <p:cNvSpPr/>
          <p:nvPr/>
        </p:nvSpPr>
        <p:spPr>
          <a:xfrm>
            <a:off x="914400" y="363096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609480" y="1168560"/>
            <a:ext cx="7924320" cy="1147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CustomShape 2"/>
          <p:cNvSpPr/>
          <p:nvPr/>
        </p:nvSpPr>
        <p:spPr>
          <a:xfrm>
            <a:off x="609480" y="2455200"/>
            <a:ext cx="7924320" cy="1147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9" name="CustomShape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Testing della Rete: Strumenti Python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190" name="CustomShape 4"/>
          <p:cNvSpPr/>
          <p:nvPr/>
        </p:nvSpPr>
        <p:spPr>
          <a:xfrm>
            <a:off x="914400" y="1389240"/>
            <a:ext cx="7461000" cy="33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</a:rPr>
              <a:t>TRACE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91" name="CustomShape 5"/>
          <p:cNvSpPr/>
          <p:nvPr/>
        </p:nvSpPr>
        <p:spPr>
          <a:xfrm>
            <a:off x="914400" y="1726920"/>
            <a:ext cx="7461000" cy="360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Riflessione delle richieste, combinato con XSS porta a furto di sessione o dati sensibili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92" name="CustomShape 6"/>
          <p:cNvSpPr/>
          <p:nvPr/>
        </p:nvSpPr>
        <p:spPr>
          <a:xfrm>
            <a:off x="914400" y="2678760"/>
            <a:ext cx="7461000" cy="49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OPTIONS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93" name="CustomShape 7"/>
          <p:cNvSpPr/>
          <p:nvPr/>
        </p:nvSpPr>
        <p:spPr>
          <a:xfrm>
            <a:off x="914400" y="3030480"/>
            <a:ext cx="7461000" cy="4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Rivela metodi disponibili, accelera ricognizione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194" name="CustomShape 8"/>
          <p:cNvSpPr/>
          <p:nvPr/>
        </p:nvSpPr>
        <p:spPr>
          <a:xfrm>
            <a:off x="609480" y="3741840"/>
            <a:ext cx="7924320" cy="1117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001">
            <a:schemeClr val="dk2"/>
          </a:fillRef>
          <a:effectRef idx="0">
            <a:schemeClr val="dk1"/>
          </a:effectRef>
          <a:fontRef idx="minor"/>
        </p:style>
      </p:sp>
      <p:sp>
        <p:nvSpPr>
          <p:cNvPr id="195" name="CustomShape 9"/>
          <p:cNvSpPr/>
          <p:nvPr/>
        </p:nvSpPr>
        <p:spPr>
          <a:xfrm>
            <a:off x="832320" y="3850920"/>
            <a:ext cx="3739320" cy="410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</a:rPr>
              <a:t>Mitigazione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196" name="CustomShape 10"/>
          <p:cNvSpPr/>
          <p:nvPr/>
        </p:nvSpPr>
        <p:spPr>
          <a:xfrm>
            <a:off x="832320" y="4266360"/>
            <a:ext cx="67230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Abilita TRACE &amp; OPTIONS solo dove necessari, whitelist rigorosa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609480" y="1249560"/>
            <a:ext cx="7924320" cy="10242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CustomShape 2"/>
          <p:cNvSpPr/>
          <p:nvPr/>
        </p:nvSpPr>
        <p:spPr>
          <a:xfrm>
            <a:off x="609480" y="2594160"/>
            <a:ext cx="7924320" cy="19393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9" name="CustomShape 3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Testing della Rete: Strumenti Python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</a:rPr>
              <a:t>Port Scanning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914400" y="1874520"/>
            <a:ext cx="7461000" cy="21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681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Identifica i servizi raggiungibili e superficie d’attacco.</a:t>
            </a:r>
            <a:endParaRPr b="0" lang="it-IT" sz="1200" spc="-1" strike="noStrike">
              <a:latin typeface="Arial"/>
            </a:endParaRPr>
          </a:p>
        </p:txBody>
      </p:sp>
      <p:sp>
        <p:nvSpPr>
          <p:cNvPr id="202" name="CustomShape 6"/>
          <p:cNvSpPr/>
          <p:nvPr/>
        </p:nvSpPr>
        <p:spPr>
          <a:xfrm>
            <a:off x="914400" y="2847960"/>
            <a:ext cx="7461000" cy="3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  <a:ea typeface="Arial"/>
              </a:rPr>
              <a:t>Mitigazione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203" name="CustomShape 7"/>
          <p:cNvSpPr/>
          <p:nvPr/>
        </p:nvSpPr>
        <p:spPr>
          <a:xfrm>
            <a:off x="914400" y="3212280"/>
            <a:ext cx="7461000" cy="120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Ridurre l'esposizione: </a:t>
            </a:r>
            <a:r>
              <a:rPr b="1" lang="it-IT" sz="1200" spc="-1" strike="noStrike">
                <a:solidFill>
                  <a:srgbClr val="cbd5e1"/>
                </a:solidFill>
                <a:latin typeface="Arial"/>
              </a:rPr>
              <a:t>minimalismo, crittografia, segmentazione;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Apri solo quello che serve al business;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Firewall rules per limitare accesso per provenienza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609480" y="1249560"/>
            <a:ext cx="7924320" cy="32839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152400" dir="5400000" dist="763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CustomShape 2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Testing della Rete: Strumenti Python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206" name="CustomShape 3"/>
          <p:cNvSpPr/>
          <p:nvPr/>
        </p:nvSpPr>
        <p:spPr>
          <a:xfrm>
            <a:off x="914400" y="1554480"/>
            <a:ext cx="74610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520"/>
              </a:lnSpc>
            </a:pPr>
            <a:r>
              <a:rPr b="1" lang="it-IT" sz="2100" spc="-1" strike="noStrike">
                <a:solidFill>
                  <a:srgbClr val="ff9500"/>
                </a:solidFill>
                <a:latin typeface="Arial"/>
              </a:rPr>
              <a:t>Traffic monitoring &amp; Ciclo iterativo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207" name="CustomShape 4"/>
          <p:cNvSpPr/>
          <p:nvPr/>
        </p:nvSpPr>
        <p:spPr>
          <a:xfrm>
            <a:off x="914400" y="1951920"/>
            <a:ext cx="7461000" cy="143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Osserva traffico in tempo reale durante i test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Conferma comportamento atteso, troubleshooting rapido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Rilancia test dopo ogni cambio di configurazione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cbd5e1"/>
                </a:solidFill>
                <a:latin typeface="Arial"/>
              </a:rPr>
              <a:t>Validazione che la superficie d'attacco rimane sotto controllo</a:t>
            </a:r>
            <a:endParaRPr b="0" lang="it-IT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Fasi di Implementazione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914400" y="1173240"/>
            <a:ext cx="7619760" cy="2216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1. Analisi: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Requisiti, struttura, dimensionamento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2. Progettazione: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VLAN, subnetting, schema indirizzamento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3. Implementazione: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Switch, router, DHCP, routing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4. Sicurezza: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DMZ, firewall, IDS/IPS, policy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5. Testing: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Script Python per validazione rete</a:t>
            </a:r>
            <a:endParaRPr b="0" lang="it-IT" sz="1200" spc="-1" strike="noStrike">
              <a:latin typeface="Arial"/>
            </a:endParaRPr>
          </a:p>
          <a:p>
            <a:pPr marL="343080" indent="-342720">
              <a:lnSpc>
                <a:spcPts val="2160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200" spc="-1" strike="noStrike">
                <a:solidFill>
                  <a:srgbClr val="00c447"/>
                </a:solidFill>
                <a:latin typeface="Arial"/>
                <a:ea typeface="Arial"/>
              </a:rPr>
              <a:t>6. Report:</a:t>
            </a:r>
            <a:r>
              <a:rPr b="0" lang="it-IT" sz="1200" spc="-1" strike="noStrike">
                <a:solidFill>
                  <a:srgbClr val="cbd5e1"/>
                </a:solidFill>
                <a:latin typeface="Arial"/>
                <a:ea typeface="Arial"/>
              </a:rPr>
              <a:t> Documentazione e raccomandazioni finali</a:t>
            </a:r>
            <a:endParaRPr b="0" lang="it-IT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609480" y="1173240"/>
            <a:ext cx="7924320" cy="10180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CustomShape 2"/>
          <p:cNvSpPr/>
          <p:nvPr/>
        </p:nvSpPr>
        <p:spPr>
          <a:xfrm>
            <a:off x="609480" y="2344320"/>
            <a:ext cx="7924320" cy="10180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CustomShape 3"/>
          <p:cNvSpPr/>
          <p:nvPr/>
        </p:nvSpPr>
        <p:spPr>
          <a:xfrm>
            <a:off x="609480" y="3515400"/>
            <a:ext cx="7924320" cy="10180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algn="bl" blurRad="76200" dir="5400000" dist="3816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CustomShape 4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Bill of Materials: Componenti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214" name="CustomShape 5"/>
          <p:cNvSpPr/>
          <p:nvPr/>
        </p:nvSpPr>
        <p:spPr>
          <a:xfrm>
            <a:off x="762120" y="1325880"/>
            <a:ext cx="7772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Networking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215" name="CustomShape 6"/>
          <p:cNvSpPr/>
          <p:nvPr/>
        </p:nvSpPr>
        <p:spPr>
          <a:xfrm>
            <a:off x="762120" y="160020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1 Router • 1 Firewall • 6 Switch (24+ porte)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216" name="CustomShape 7"/>
          <p:cNvSpPr/>
          <p:nvPr/>
        </p:nvSpPr>
        <p:spPr>
          <a:xfrm>
            <a:off x="762120" y="2496600"/>
            <a:ext cx="7772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Server &amp; Storage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217" name="CustomShape 8"/>
          <p:cNvSpPr/>
          <p:nvPr/>
        </p:nvSpPr>
        <p:spPr>
          <a:xfrm>
            <a:off x="762120" y="277092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1 Web Server (DVWA) • 1 NAS RAID</a:t>
            </a:r>
            <a:endParaRPr b="0" lang="it-IT" sz="1019" spc="-1" strike="noStrike">
              <a:latin typeface="Arial"/>
            </a:endParaRPr>
          </a:p>
        </p:txBody>
      </p:sp>
      <p:sp>
        <p:nvSpPr>
          <p:cNvPr id="218" name="CustomShape 9"/>
          <p:cNvSpPr/>
          <p:nvPr/>
        </p:nvSpPr>
        <p:spPr>
          <a:xfrm>
            <a:off x="762120" y="3667680"/>
            <a:ext cx="7772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2160"/>
              </a:lnSpc>
            </a:pPr>
            <a:r>
              <a:rPr b="1" lang="it-IT" sz="1800" spc="-1" strike="noStrike">
                <a:solidFill>
                  <a:srgbClr val="38bdf8"/>
                </a:solidFill>
                <a:latin typeface="Arial"/>
                <a:ea typeface="Arial"/>
              </a:rPr>
              <a:t>Sicurezza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219" name="CustomShape 10"/>
          <p:cNvSpPr/>
          <p:nvPr/>
        </p:nvSpPr>
        <p:spPr>
          <a:xfrm>
            <a:off x="762120" y="3942000"/>
            <a:ext cx="7772040" cy="18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1429"/>
              </a:lnSpc>
            </a:pPr>
            <a:r>
              <a:rPr b="0" lang="it-IT" sz="1019" spc="-1" strike="noStrike">
                <a:solidFill>
                  <a:srgbClr val="cbd5e1"/>
                </a:solidFill>
                <a:latin typeface="Arial"/>
                <a:ea typeface="Arial"/>
              </a:rPr>
              <a:t>1 IDS • 2 IPS posizionati strategicamente</a:t>
            </a:r>
            <a:endParaRPr b="0" lang="it-IT" sz="101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ts val="3240"/>
              </a:lnSpc>
            </a:pPr>
            <a:r>
              <a:rPr b="1" lang="it-IT" sz="2700" spc="-1" strike="noStrike">
                <a:solidFill>
                  <a:srgbClr val="38bdf8"/>
                </a:solidFill>
                <a:latin typeface="Arial"/>
                <a:ea typeface="Arial"/>
              </a:rPr>
              <a:t>Conclusioni</a:t>
            </a:r>
            <a:endParaRPr b="0" lang="it-IT" sz="2700" spc="-1" strike="noStrike"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Architettura Moderna: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Router on a stick con VLAN per scalabilità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Difesa Multilivello: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Firewall + IDS/IPS + DMZ isolata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Storage Affidabile: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NAS RAID centralizzato e protetto</a:t>
            </a:r>
            <a:endParaRPr b="0" lang="it-IT" sz="1350" spc="-1" strike="noStrike">
              <a:latin typeface="Arial"/>
            </a:endParaRPr>
          </a:p>
          <a:p>
            <a:pPr marL="343080" indent="-342720">
              <a:lnSpc>
                <a:spcPts val="2429"/>
              </a:lnSpc>
              <a:buClr>
                <a:srgbClr val="00c447"/>
              </a:buClr>
              <a:buFont typeface="Symbol" charset="2"/>
              <a:buChar char=""/>
            </a:pPr>
            <a:r>
              <a:rPr b="1" lang="it-IT" sz="1350" spc="-1" strike="noStrike">
                <a:solidFill>
                  <a:srgbClr val="00c447"/>
                </a:solidFill>
                <a:latin typeface="Arial"/>
                <a:ea typeface="Arial"/>
              </a:rPr>
              <a:t>Testing Validato:</a:t>
            </a:r>
            <a:r>
              <a:rPr b="0" lang="it-IT" sz="1350" spc="-1" strike="noStrike">
                <a:solidFill>
                  <a:srgbClr val="cbd5e1"/>
                </a:solidFill>
                <a:latin typeface="Arial"/>
                <a:ea typeface="Arial"/>
              </a:rPr>
              <a:t> Script Python per verifica sicurezza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3781440" y="1750680"/>
            <a:ext cx="1580760" cy="54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4320"/>
              </a:lnSpc>
            </a:pPr>
            <a:r>
              <a:rPr b="1" lang="it-IT" sz="3600" spc="-1" strike="noStrike">
                <a:solidFill>
                  <a:srgbClr val="38bdf8"/>
                </a:solidFill>
                <a:latin typeface="Arial"/>
                <a:ea typeface="Arial"/>
              </a:rPr>
              <a:t>Grazie!</a:t>
            </a:r>
            <a:endParaRPr b="0" lang="it-IT" sz="3600" spc="-1" strike="noStrike">
              <a:latin typeface="Arial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3420720" y="2527920"/>
            <a:ext cx="23022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2520"/>
              </a:lnSpc>
            </a:pPr>
            <a:r>
              <a:rPr b="0" lang="it-IT" sz="1800" spc="-1" strike="noStrike">
                <a:solidFill>
                  <a:srgbClr val="cbd5e1"/>
                </a:solidFill>
                <a:latin typeface="Arial"/>
                <a:ea typeface="Arial"/>
              </a:rPr>
              <a:t>Team Sniffing Sockets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2854800" y="3152880"/>
            <a:ext cx="3434040" cy="239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algn="ctr">
              <a:lnSpc>
                <a:spcPts val="1891"/>
              </a:lnSpc>
            </a:pPr>
            <a:r>
              <a:rPr b="0" lang="it-IT" sz="1350" spc="-1" strike="noStrike">
                <a:solidFill>
                  <a:srgbClr val="94a3b8"/>
                </a:solidFill>
                <a:latin typeface="Arial"/>
                <a:ea typeface="Arial"/>
              </a:rPr>
              <a:t>Infrastruttura IT Theta • Build Week Progetto</a:t>
            </a:r>
            <a:endParaRPr b="0" lang="it-IT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Neat_Office/6.2.8.2$Windows_x86 LibreOffice_project/</Application>
  <Words>1034</Words>
  <Paragraphs>198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2025-12-19T09:31:17Z</dcterms:created>
  <dc:creator>Perplexity</dc:creator>
  <dc:description/>
  <dc:language>it-IT</dc:language>
  <cp:lastModifiedBy/>
  <dcterms:modified xsi:type="dcterms:W3CDTF">2025-12-19T14:04:25Z</dcterms:modified>
  <cp:revision>4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Perplexity AI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27</vt:i4>
  </property>
  <property fmtid="{D5CDD505-2E9C-101B-9397-08002B2CF9AE}" pid="9" name="PresentationFormat">
    <vt:lpwstr>Presentazione su schermo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27</vt:i4>
  </property>
</Properties>
</file>